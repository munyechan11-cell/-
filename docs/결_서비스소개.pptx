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결은 1인·소규모 매장의 주문·결제·단골 관리·홍보를 하나로 잇는 운영 클라우드입니다. 현재 파일럿 매장 2곳에서 실제 영업에 쓰이고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제기: 기능이 없어서가 아니라, 사장님의 시간이 없어서 생기는 손실입니다.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 도구를 부정하는 게 아니라, 연결이 없다는 점이 문제라는 프레이밍입니다.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메시지: 이 루프는 주문·고객·리뷰·발행을 한 시스템이 모두 가질 때만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전화 예약은 대화·판단 로직이 완성되어 있고, 음성 채널 연결이 남아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마무리: 연락처를 채워서 사용하세요.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931920"/>
            <a:ext cx="3108960" cy="3108960"/>
          </a:xfrm>
          <a:prstGeom prst="ellipse">
            <a:avLst/>
          </a:prstGeom>
          <a:solidFill>
            <a:srgbClr val="16274A"/>
          </a:solidFill>
          <a:ln w="12700">
            <a:solidFill>
              <a:srgbClr val="1627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2761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D89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GYEOL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3716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사장님이 하지 않아도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매장이 굴러가게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3200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4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주문·결제·단골 관리·홍보를 하나로 잇는 1인 매장 운영 클라우드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39776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6274A"/>
          </a:solidFill>
          <a:ln w="12700">
            <a:solidFill>
              <a:srgbClr val="2A3E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3977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매장 2곳 운영 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12280" y="39776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6274A"/>
          </a:solidFill>
          <a:ln w="12700">
            <a:solidFill>
              <a:srgbClr val="2A3E6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12280" y="3977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베타 사용료 0원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0" y="39776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6274A"/>
          </a:solidFill>
          <a:ln w="12700">
            <a:solidFill>
              <a:srgbClr val="2A3E6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0" y="3977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설치·단말기 없음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소개서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86968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 피크 두 시간 동안,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사장님 옆에서 본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51460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898648"/>
            <a:ext cx="347472" cy="347472"/>
          </a:xfrm>
          <a:prstGeom prst="ellipse">
            <a:avLst/>
          </a:prstGeom>
          <a:solidFill>
            <a:srgbClr val="FBF0DC"/>
          </a:solidFill>
          <a:ln w="12700">
            <a:solidFill>
              <a:srgbClr val="FBF0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18488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하나에 POS 네 번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18488" y="32278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손님이 부르면 그 네 번이 중간에서 끊깁니다.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898648"/>
            <a:ext cx="347472" cy="347472"/>
          </a:xfrm>
          <a:prstGeom prst="ellipse">
            <a:avLst/>
          </a:prstGeom>
          <a:solidFill>
            <a:srgbClr val="FBF0DC"/>
          </a:solidFill>
          <a:ln w="12700">
            <a:solidFill>
              <a:srgbClr val="FBF0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울린 전화를 못 받는다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32278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그게 예약 문의였는지조차 매장은 모릅니다.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20624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4590288"/>
            <a:ext cx="347472" cy="347472"/>
          </a:xfrm>
          <a:prstGeom prst="ellipse">
            <a:avLst/>
          </a:prstGeom>
          <a:solidFill>
            <a:srgbClr val="FBF0DC"/>
          </a:solidFill>
          <a:ln w="12700">
            <a:solidFill>
              <a:srgbClr val="FBF0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590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18488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번째 온 손님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18488" y="49194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기록은 사장님 기억 말고 어디에도 없습니다.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590288"/>
            <a:ext cx="347472" cy="347472"/>
          </a:xfrm>
          <a:prstGeom prst="ellipse">
            <a:avLst/>
          </a:prstGeom>
          <a:solidFill>
            <a:srgbClr val="FBF0DC"/>
          </a:solidFill>
          <a:ln w="12700">
            <a:solidFill>
              <a:srgbClr val="FBF0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590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석 달 멈춘 인스타그램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49194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줄 몰라서, 그리고 그럴 시간이 없어서.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 · Gyeol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881360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869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도구는 이미 많습니다. 따로 놀 뿐입니다.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361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계약하고, 각각 청구되고, 데이터는 각 회사 안에 남습니다.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542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626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22860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94760" y="2542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키오스크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9626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2860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37960" y="2542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 앱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9626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06840" y="22860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81160" y="2542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대행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29626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홍보만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069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넷을 이어 붙이는 일은 사장님이 사람 손으로 합니다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" y="4709160"/>
            <a:ext cx="10607040" cy="1143000"/>
          </a:xfrm>
          <a:prstGeom prst="roundRect">
            <a:avLst>
              <a:gd name="adj" fmla="val 7200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188720" y="489204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손님이 몇 번 왔는지는 POS가, 예약은 예약 앱이, 리뷰는 플랫폼이 압니다.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그걸 이어서 “이 손님에게 지금 쿠폰을 보내자”까지 판단하는 일이 사장님 몫으로 남습니다.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 · Gyeol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881360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끊기지 않는 하나의 흐름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91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4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손님이 QR을 찍는 순간부터 홍보 게시물이 올라가기까지, 한 시스템 안에서 이어집니다.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1325880" cy="914400"/>
          </a:xfrm>
          <a:prstGeom prst="roundRect">
            <a:avLst>
              <a:gd name="adj" fmla="val 10000"/>
            </a:avLst>
          </a:prstGeom>
          <a:solidFill>
            <a:srgbClr val="D8952F"/>
          </a:solidFill>
          <a:ln w="12700">
            <a:solidFill>
              <a:srgbClr val="D895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5146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16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스캔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2514600"/>
            <a:ext cx="210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313432" y="2514600"/>
            <a:ext cx="1325880" cy="914400"/>
          </a:xfrm>
          <a:prstGeom prst="roundRect">
            <a:avLst>
              <a:gd name="adj" fmla="val 10000"/>
            </a:avLst>
          </a:prstGeom>
          <a:solidFill>
            <a:srgbClr val="16274A"/>
          </a:solidFill>
          <a:ln w="12700">
            <a:solidFill>
              <a:srgbClr val="2A3E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13432" y="25146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2514600"/>
            <a:ext cx="210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49624" y="2514600"/>
            <a:ext cx="1325880" cy="914400"/>
          </a:xfrm>
          <a:prstGeom prst="roundRect">
            <a:avLst>
              <a:gd name="adj" fmla="val 10000"/>
            </a:avLst>
          </a:prstGeom>
          <a:solidFill>
            <a:srgbClr val="16274A"/>
          </a:solidFill>
          <a:ln w="12700">
            <a:solidFill>
              <a:srgbClr val="2A3E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9624" y="25146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2514600"/>
            <a:ext cx="210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85816" y="2514600"/>
            <a:ext cx="1325880" cy="914400"/>
          </a:xfrm>
          <a:prstGeom prst="roundRect">
            <a:avLst>
              <a:gd name="adj" fmla="val 10000"/>
            </a:avLst>
          </a:prstGeom>
          <a:solidFill>
            <a:srgbClr val="16274A"/>
          </a:solidFill>
          <a:ln w="12700">
            <a:solidFill>
              <a:srgbClr val="2A3E6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85816" y="25146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영수증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2514600"/>
            <a:ext cx="210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922008" y="2514600"/>
            <a:ext cx="1325880" cy="914400"/>
          </a:xfrm>
          <a:prstGeom prst="roundRect">
            <a:avLst>
              <a:gd name="adj" fmla="val 10000"/>
            </a:avLst>
          </a:prstGeom>
          <a:solidFill>
            <a:srgbClr val="16274A"/>
          </a:solidFill>
          <a:ln w="12700">
            <a:solidFill>
              <a:srgbClr val="2A3E6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22008" y="25146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단골 기록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47888" y="2514600"/>
            <a:ext cx="210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458200" y="2514600"/>
            <a:ext cx="1325880" cy="914400"/>
          </a:xfrm>
          <a:prstGeom prst="roundRect">
            <a:avLst>
              <a:gd name="adj" fmla="val 10000"/>
            </a:avLst>
          </a:prstGeom>
          <a:solidFill>
            <a:srgbClr val="16274A"/>
          </a:solidFill>
          <a:ln w="12700">
            <a:solidFill>
              <a:srgbClr val="2A3E6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58200" y="25146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0" y="2514600"/>
            <a:ext cx="210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994392" y="2514600"/>
            <a:ext cx="1325880" cy="914400"/>
          </a:xfrm>
          <a:prstGeom prst="roundRect">
            <a:avLst>
              <a:gd name="adj" fmla="val 10000"/>
            </a:avLst>
          </a:prstGeom>
          <a:solidFill>
            <a:srgbClr val="16274A"/>
          </a:solidFill>
          <a:ln w="12700">
            <a:solidFill>
              <a:srgbClr val="2A3E6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994392" y="25146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홍보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397764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16274A"/>
          </a:solidFill>
          <a:ln w="12700">
            <a:solidFill>
              <a:srgbClr val="16274A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97280" y="4279392"/>
            <a:ext cx="329184" cy="329184"/>
          </a:xfrm>
          <a:prstGeom prst="ellipse">
            <a:avLst/>
          </a:prstGeom>
          <a:solidFill>
            <a:srgbClr val="D8952F"/>
          </a:solidFill>
          <a:ln w="12700">
            <a:solidFill>
              <a:srgbClr val="D895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97280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16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리뷰를 쓰면 쿠폰이 자동 발급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51480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AD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매장이 정한 금액으로 그 자리에서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89120" y="397764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16274A"/>
          </a:solidFill>
          <a:ln w="12700">
            <a:solidFill>
              <a:srgbClr val="16274A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4279392"/>
            <a:ext cx="329184" cy="329184"/>
          </a:xfrm>
          <a:prstGeom prst="ellipse">
            <a:avLst/>
          </a:prstGeom>
          <a:solidFill>
            <a:srgbClr val="D8952F"/>
          </a:solidFill>
          <a:ln w="12700">
            <a:solidFill>
              <a:srgbClr val="D8952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09160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16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70916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쿠폰은 다음 계산서에서 차감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51480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AD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사장님이 계산할 게 없습니다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01000" y="397764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16274A"/>
          </a:solidFill>
          <a:ln w="12700">
            <a:solidFill>
              <a:srgbClr val="16274A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21040" y="4279392"/>
            <a:ext cx="329184" cy="329184"/>
          </a:xfrm>
          <a:prstGeom prst="ellipse">
            <a:avLst/>
          </a:prstGeom>
          <a:solidFill>
            <a:srgbClr val="D8952F"/>
          </a:solidFill>
          <a:ln w="12700">
            <a:solidFill>
              <a:srgbClr val="D8952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21040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16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32104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리뷰는 홍보 소재가 됩니다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321040" y="51480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AD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답글 초안과 게시물로 다시 쓰임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 · Gyeol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881360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 CUSTOMERS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869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손님은 QR만 찍으면 됩니다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361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설치도, 직원을 부르는 일도 없습니다.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3383280" cy="347472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468880"/>
            <a:ext cx="402336" cy="402336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0358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스캔하고 주문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56616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찍은 테이블로 바로 입장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옵션·수량까지 직접 선택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품절 메뉴는 아예 보이지 않음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148840"/>
            <a:ext cx="3383280" cy="347472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468880"/>
            <a:ext cx="402336" cy="402336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0358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앉은 자리에서 결제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56616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요청 한 번이면 끝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 세금까지 표시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영수증은 매장에서 자동 출력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01000" y="2148840"/>
            <a:ext cx="3383280" cy="347472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468880"/>
            <a:ext cx="402336" cy="402336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0358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쓰면 쿠폰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56616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별점·사진·글을 함께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쿠폰이 즉시 지급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방문 계산서에서 바로 차감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 · Gyeol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881360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 OWNERS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869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사장님이 누르는 버튼은 두 번입니다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361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POS의 4단계를 접수·서빙 두 번으로 줄였습니다.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97280" y="2450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주문·결제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8803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주문은 폰으로 알림, 결제 승인하면 영수증 자동 출력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19456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09160" y="2450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8단계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8803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예약·착석·식사·결제·정리까지 한 화면에서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01000" y="219456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21040" y="2450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단골 관리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8803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 이력과 등급이 자동으로 쌓이고 쿠폰까지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97764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97280" y="4233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매출·통계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6634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일·주·월 매출, 결제수단별, 엑셀 내보내기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397764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09160" y="4233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재고·원가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46634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업종별 기본 재료 자동 채움, 3가지 입력 모드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01000" y="397764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321040" y="4233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직원·예약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6634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등급제, 예약 시 테이블 자동 배정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 · Gyeol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881360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보조가 아니라, 대신 실행합니다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91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4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사장님이 하는 일은 승인 한 번입니다.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5120640" cy="1600200"/>
          </a:xfrm>
          <a:prstGeom prst="roundRect">
            <a:avLst>
              <a:gd name="adj" fmla="val 5143"/>
            </a:avLst>
          </a:prstGeom>
          <a:solidFill>
            <a:srgbClr val="16274A"/>
          </a:solidFill>
          <a:ln w="12700">
            <a:solidFill>
              <a:srgbClr val="16274A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88720" y="26334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부재중 전화를 받습니다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0632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3C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영업시간과 빈자리를 확인하고 예약까지 잡습니다. 만석이면 대안 시간을 제안합니다.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377440"/>
            <a:ext cx="5120640" cy="1600200"/>
          </a:xfrm>
          <a:prstGeom prst="roundRect">
            <a:avLst>
              <a:gd name="adj" fmla="val 5143"/>
            </a:avLst>
          </a:prstGeom>
          <a:solidFill>
            <a:srgbClr val="16274A"/>
          </a:solidFill>
          <a:ln w="12700">
            <a:solidFill>
              <a:srgbClr val="16274A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29400" y="26334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홍보 글을 올립니다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30632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3C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톤·타깃·금지어를 반영한 초안을 만들어 인스타그램과 구글 비즈니스에 동시 발행합니다.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4251960"/>
            <a:ext cx="5120640" cy="1600200"/>
          </a:xfrm>
          <a:prstGeom prst="roundRect">
            <a:avLst>
              <a:gd name="adj" fmla="val 5143"/>
            </a:avLst>
          </a:prstGeom>
          <a:solidFill>
            <a:srgbClr val="16274A"/>
          </a:solidFill>
          <a:ln w="12700">
            <a:solidFill>
              <a:srgbClr val="16274A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188720" y="45079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세금을 짚어 줍니다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9377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3C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매출과 지출을 기준으로 절세 포인트를 정리해 줍니다.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4251960"/>
            <a:ext cx="5120640" cy="1600200"/>
          </a:xfrm>
          <a:prstGeom prst="roundRect">
            <a:avLst>
              <a:gd name="adj" fmla="val 5143"/>
            </a:avLst>
          </a:prstGeom>
          <a:solidFill>
            <a:srgbClr val="16274A"/>
          </a:solidFill>
          <a:ln w="12700">
            <a:solidFill>
              <a:srgbClr val="16274A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629400" y="45079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지원사업을 찾아 줍니다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49377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3C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업종과 지역에 맞는 소상공인 지원제도를 추천하고 신청처를 연결합니다.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 · Gyeol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0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869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도입은 30분이면 끝납니다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361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전용 단말기도, 설치 기사 방문도, 약정도 없습니다.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33832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97280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9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9992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도면 사진 한 장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4290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매장 자리 배치를 그대로 화면으로 만듭니다.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3832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09160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9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9992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메뉴판 사진 한 장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4290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메뉴와 가격이 한 번에 등록됩니다.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2194560"/>
            <a:ext cx="33832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21040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9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9992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인쇄해서 붙이기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템플릿 3종과 라벨지·명함 용지를 지원합니다.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480560"/>
            <a:ext cx="10607040" cy="1371600"/>
          </a:xfrm>
          <a:prstGeom prst="roundRect">
            <a:avLst>
              <a:gd name="adj" fmla="val 6000"/>
            </a:avLst>
          </a:prstGeom>
          <a:solidFill>
            <a:srgbClr val="E6ECF7"/>
          </a:solidFill>
          <a:ln w="12700">
            <a:solidFill>
              <a:srgbClr val="E6ECF7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143000" y="4709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709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 한 번에 메뉴 등록부터 QR 부착까지 끝냅니다. 사장님은 그날 저녁부터 바로 주문을 받습니다.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 · Gyeol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881360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869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도구와 무엇이 다른가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10607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434840"/>
                <a:gridCol w="4617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3CEE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POS · 키오스크 · 예약 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8952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31C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도입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6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단말기 구입, 설치 기사 방문, 약정 계약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C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웹 주소만 열면 시작, 있는 기기로 운영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31C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범위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6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계산·주문·예약·홍보가 각각 다른 계약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C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하나의 시스템에서 끊기지 않고 이어짐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31C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맞춤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6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어느 업종에나 같은 화면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C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업종에 따라 재료·조리 단계·화면이 바뀜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31C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6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단말기 값 + 월 사용료 + 대행비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C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코어 무료, 자동화만 월 1~4만 원대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31C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6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각 회사 안에 흩어져 남음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C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주문·고객·예약이 매장에 함께 쌓임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비용은 업계 일반 관행 기준의 설명이며, 매장별 계약 조건에 따라 다릅니다.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 · Gyeol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881360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869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자동화는 한 번의 사고로 신뢰를 잃습니다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361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결은 AI에게 판단을 맡기지 않습니다.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338328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97280" y="2423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1건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31012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예약 2건이 들어와도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1석에는 1건만 확정됩니다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3434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확정은 AI가 아니라 서버 트랜잭션이 결정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38328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09160" y="2423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31012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승인 없이 나가는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홍보 게시물은 없습니다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43434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초안은 승인 큐를 거치고 전 이력이 기록됨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01000" y="2194560"/>
            <a:ext cx="338328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21040" y="2423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10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31012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자정 넘김 영업·만석·인원 초과 등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 상황 검증을 통과했습니다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43434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서버와 데이터베이스로 확인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 · Gyeol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0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869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운영에 꼭 필요한 것은 무료입니다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361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돈은 사장님이 직접 하기 어려운 자동화에만 받습니다.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5120640" cy="3108960"/>
          </a:xfrm>
          <a:prstGeom prst="roundRect">
            <a:avLst>
              <a:gd name="adj" fmla="val 2647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88720" y="2468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운영 코어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7033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E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주문 · 결제 · 영수증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E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· 예약 · 직원 관리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E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이력 · 등급 · 쿠폰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5DE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· 통계 · 재고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194560"/>
            <a:ext cx="512064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2304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 채널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633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 무료 · 3개 월 10,000원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8712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인스타그램, 구글 비즈니스 프로필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3264408"/>
            <a:ext cx="512064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83680" y="33741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홍보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 월 25,000원 · 맥스 월 40,000원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9410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초안 생성부터 승인 발행까지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4334256"/>
            <a:ext cx="512064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83680" y="44439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1C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전화 예약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통화량 구간제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0109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전화 한 통이 요금을 넘깁니다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5404104"/>
            <a:ext cx="5120640" cy="566928"/>
          </a:xfrm>
          <a:prstGeom prst="roundRect">
            <a:avLst>
              <a:gd name="adj" fmla="val 14516"/>
            </a:avLst>
          </a:prstGeom>
          <a:solidFill>
            <a:srgbClr val="FBF0DC"/>
          </a:solidFill>
          <a:ln w="12700">
            <a:solidFill>
              <a:srgbClr val="FBF0DC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63640" y="540410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베타 기간에는 위 유료 기능까지 전부 0원입니다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6355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 · Gyeol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881360" y="6355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5852160" cy="5852160"/>
          </a:xfrm>
          <a:prstGeom prst="ellipse">
            <a:avLst/>
          </a:prstGeom>
          <a:solidFill>
            <a:srgbClr val="16274A"/>
          </a:solidFill>
          <a:ln w="12700">
            <a:solidFill>
              <a:srgbClr val="1627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7772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1097280"/>
            <a:ext cx="7132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매장 2곳에서</a:t>
            </a:r>
            <a:endParaRPr lang="en-US" sz="3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영업에 쓰이고 있습니다.</a:t>
            </a:r>
            <a:endParaRPr lang="en-US" sz="3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다음은 스무 곳입니다.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매장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3886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2곳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62940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언어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3886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국어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3886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베타 0원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206240" y="4800600"/>
            <a:ext cx="7178040" cy="1005840"/>
          </a:xfrm>
          <a:prstGeom prst="roundRect">
            <a:avLst>
              <a:gd name="adj" fmla="val 8182"/>
            </a:avLst>
          </a:prstGeom>
          <a:solidFill>
            <a:srgbClr val="16274A"/>
          </a:solidFill>
          <a:ln w="12700">
            <a:solidFill>
              <a:srgbClr val="16274A"/>
            </a:solidFill>
            <a:prstDash val="solid"/>
          </a:ln>
          <a:effectLst>
            <a:outerShdw sx="100000" sy="100000" kx="0" ky="0" algn="bl" rotWithShape="0" blurRad="177800" dist="38100" dir="5400000">
              <a:srgbClr val="0F1B3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72000" y="4983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95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문의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5257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연락처 · 이메일 · 웹 주소를 입력하세요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결(Gyeol) 서비스 소개</dc:title>
  <dc:subject>PptxGenJS Presentation</dc:subject>
  <dc:creator>Gyeol</dc:creator>
  <cp:lastModifiedBy>Gyeol</cp:lastModifiedBy>
  <cp:revision>1</cp:revision>
  <dcterms:created xsi:type="dcterms:W3CDTF">2026-09-01T01:30:13Z</dcterms:created>
  <dcterms:modified xsi:type="dcterms:W3CDTF">2026-09-01T01:30:13Z</dcterms:modified>
</cp:coreProperties>
</file>